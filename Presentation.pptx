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8" r:id="rId3"/>
    <p:sldId id="256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2" d="100"/>
          <a:sy n="52" d="100"/>
        </p:scale>
        <p:origin x="1877" y="6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A5D2BF-9473-4C92-840B-1E4F06B2F22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6B553AD-F1E2-4885-A3DE-159CE18522BC}">
      <dgm:prSet/>
      <dgm:spPr/>
      <dgm:t>
        <a:bodyPr/>
        <a:lstStyle/>
        <a:p>
          <a:endParaRPr lang="en-IN" dirty="0"/>
        </a:p>
      </dgm:t>
    </dgm:pt>
    <dgm:pt modelId="{20371615-5A42-455E-BB8B-A86634D12E9D}" type="parTrans" cxnId="{188DDB00-06A4-4D28-A184-7DBB1E6B147C}">
      <dgm:prSet/>
      <dgm:spPr/>
      <dgm:t>
        <a:bodyPr/>
        <a:lstStyle/>
        <a:p>
          <a:endParaRPr lang="en-IN"/>
        </a:p>
      </dgm:t>
    </dgm:pt>
    <dgm:pt modelId="{CE66C8EC-0CBB-4E17-99CA-11F4A780360A}" type="sibTrans" cxnId="{188DDB00-06A4-4D28-A184-7DBB1E6B147C}">
      <dgm:prSet/>
      <dgm:spPr/>
      <dgm:t>
        <a:bodyPr/>
        <a:lstStyle/>
        <a:p>
          <a:endParaRPr lang="en-IN"/>
        </a:p>
      </dgm:t>
    </dgm:pt>
    <dgm:pt modelId="{5109D9DC-3E00-4963-8DC9-C91C91868E97}" type="pres">
      <dgm:prSet presAssocID="{92A5D2BF-9473-4C92-840B-1E4F06B2F229}" presName="linear" presStyleCnt="0">
        <dgm:presLayoutVars>
          <dgm:animLvl val="lvl"/>
          <dgm:resizeHandles val="exact"/>
        </dgm:presLayoutVars>
      </dgm:prSet>
      <dgm:spPr/>
    </dgm:pt>
    <dgm:pt modelId="{67D4156C-E9FB-4134-B6C0-5C688F4D71F0}" type="pres">
      <dgm:prSet presAssocID="{16B553AD-F1E2-4885-A3DE-159CE18522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88DDB00-06A4-4D28-A184-7DBB1E6B147C}" srcId="{92A5D2BF-9473-4C92-840B-1E4F06B2F229}" destId="{16B553AD-F1E2-4885-A3DE-159CE18522BC}" srcOrd="0" destOrd="0" parTransId="{20371615-5A42-455E-BB8B-A86634D12E9D}" sibTransId="{CE66C8EC-0CBB-4E17-99CA-11F4A780360A}"/>
    <dgm:cxn modelId="{4FBD9671-0644-442D-93E1-81053B163D72}" type="presOf" srcId="{16B553AD-F1E2-4885-A3DE-159CE18522BC}" destId="{67D4156C-E9FB-4134-B6C0-5C688F4D71F0}" srcOrd="0" destOrd="0" presId="urn:microsoft.com/office/officeart/2005/8/layout/vList2"/>
    <dgm:cxn modelId="{ECA534FD-A5EF-43AE-9526-1CCD103341BC}" type="presOf" srcId="{92A5D2BF-9473-4C92-840B-1E4F06B2F229}" destId="{5109D9DC-3E00-4963-8DC9-C91C91868E97}" srcOrd="0" destOrd="0" presId="urn:microsoft.com/office/officeart/2005/8/layout/vList2"/>
    <dgm:cxn modelId="{B78E818C-4D5A-4492-9B88-66C8BC6B7ACB}" type="presParOf" srcId="{5109D9DC-3E00-4963-8DC9-C91C91868E97}" destId="{67D4156C-E9FB-4134-B6C0-5C688F4D71F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D4156C-E9FB-4134-B6C0-5C688F4D71F0}">
      <dsp:nvSpPr>
        <dsp:cNvPr id="0" name=""/>
        <dsp:cNvSpPr/>
      </dsp:nvSpPr>
      <dsp:spPr>
        <a:xfrm>
          <a:off x="0" y="68708"/>
          <a:ext cx="8761125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/>
        </a:p>
      </dsp:txBody>
      <dsp:txXfrm>
        <a:off x="59399" y="128107"/>
        <a:ext cx="8642327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47F7-B210-CB2D-BC24-3467D31F3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177C9-5F94-EB92-DFBB-FE9F688F9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82383-D457-A65D-62EC-8BB3E69DB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E8967-2931-D7DB-3EA1-A9D3CACFE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BEB98-0D03-3AC6-141B-BDA372227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40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C953-1099-0E29-A5BE-8F336876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1EFDC-2EE0-C07F-CAE3-7D31FCEDD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671FE-97C1-EB15-7CB5-065A8ED9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9FF4D-6727-60C1-55E7-C94F32F5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F2340-B119-64D3-26E5-2B857BCA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308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60FA-09BA-3B10-8CE9-E5831A5E6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306FB-E0E4-4050-BCBF-601E5F3D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05D23-AD13-F4FC-8275-036BD97D5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BC8F4-5344-3E0C-DFEF-78062193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2CB9E-2C1C-2E67-5FC7-874511DC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06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513DC-2C20-6874-E4A3-B66CC404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679E0-CD57-3DF9-2D06-9173A2E33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8E699-98A8-FC82-A219-5391E303B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B802C-7F76-B15D-BB35-C0B97C938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46693-219B-222F-7FF1-FE34232E2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800C5-3D7C-9EF8-B650-D1633BE3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74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0182-1414-6A18-FC2C-5C185B49C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A82F9-35C2-A961-3615-CD21CC7B7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B65F1-948D-D759-776A-AFE04E64C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D6A4E-4BAB-F2E9-A795-8FB955CAD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0562A1-836D-732E-8C66-60AEDE5FF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7CC1F-C9C2-4B7A-6BBA-3C99602D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25E2A9-554E-DA20-A891-062DD3EC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BF227F-5586-CED5-7E4C-066112E8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42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31E4-2CE1-F284-A7DE-DD9FDF3FE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4A469C-011C-E85A-E11B-59AD538E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401F9-1114-49C6-06CA-B1BB81BD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6347E-97C0-C3CA-8F97-07AF9EB2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06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08910-5ED6-976B-6B62-B44DB2C8E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55B4D5-7D33-2A8E-6113-2132E0C8F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B267E-FBBE-31A2-0F94-8051197B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01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A103-62FF-08E2-DE13-8F6170FE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9EC60-92F6-C9BF-1AC3-1B8BC5BF8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A9C74-317C-B887-7B9A-AC53B633E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A3EEE-3BBC-47F7-4E85-EB9C15E2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D388F-2F55-F19B-C99B-AD58D77C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8A21A-0207-5425-45A1-3606F19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142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B775-E47E-8959-695F-EC5AAE2B1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B61ED-7E57-382C-753C-EC30454712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E97A5-93D4-5D94-5302-0C037D4E7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8F353-347D-54A0-E3FC-A27DE6AB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85D3E-2068-D3C3-94E1-6D1BE6F7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A514-960A-3C16-CF3E-647F8984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439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2F38-ED8D-A381-7FC8-1FA65472D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D433A-0F5A-9F7C-D629-9FADAC4DC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7A913-ECE0-2A48-6AB5-235DA1F6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EFBDB-5D3D-A459-C3A0-476ADE013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40A0C-4D29-65C4-0A4D-D92833AD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496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841D9-5E1B-A423-F113-F1E755F48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246B8-6CD7-E429-A778-F526BAC97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A3C3C-948A-EA9D-99AB-7800C05C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EEEFB-479F-9A2A-732D-3EB48632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151E0-3FF2-C9AD-404D-158FCE46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32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BA35B-E424-609D-A3CA-252E11418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24F72-EC5E-67D4-6D1F-465F6F6FA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91612-8D66-8C5C-333B-A921B9FBD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819D4-3C81-489C-8944-EC9A285C6A93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349FF-36B0-31B7-08D0-16F552C1A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6DBD5-2D0E-6BCD-B510-09211D40D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CFB9F-5BC4-495A-A498-CE8CF1AE9E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9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8667333" y="5866568"/>
            <a:ext cx="2801635" cy="611266"/>
          </a:xfrm>
          <a:custGeom>
            <a:avLst/>
            <a:gdLst/>
            <a:ahLst/>
            <a:cxnLst/>
            <a:rect l="l" t="t" r="r" b="b"/>
            <a:pathLst>
              <a:path w="4202452" h="916899">
                <a:moveTo>
                  <a:pt x="0" y="0"/>
                </a:moveTo>
                <a:lnTo>
                  <a:pt x="4202452" y="0"/>
                </a:lnTo>
                <a:lnTo>
                  <a:pt x="4202452" y="916898"/>
                </a:lnTo>
                <a:lnTo>
                  <a:pt x="0" y="916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685800" y="380168"/>
            <a:ext cx="2801635" cy="611266"/>
          </a:xfrm>
          <a:custGeom>
            <a:avLst/>
            <a:gdLst/>
            <a:ahLst/>
            <a:cxnLst/>
            <a:rect l="l" t="t" r="r" b="b"/>
            <a:pathLst>
              <a:path w="4202452" h="916899">
                <a:moveTo>
                  <a:pt x="4202452" y="0"/>
                </a:moveTo>
                <a:lnTo>
                  <a:pt x="0" y="0"/>
                </a:lnTo>
                <a:lnTo>
                  <a:pt x="0" y="916898"/>
                </a:lnTo>
                <a:lnTo>
                  <a:pt x="4202452" y="916898"/>
                </a:lnTo>
                <a:lnTo>
                  <a:pt x="4202452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flipH="1">
            <a:off x="2450930" y="4920593"/>
            <a:ext cx="934725" cy="203940"/>
          </a:xfrm>
          <a:custGeom>
            <a:avLst/>
            <a:gdLst/>
            <a:ahLst/>
            <a:cxnLst/>
            <a:rect l="l" t="t" r="r" b="b"/>
            <a:pathLst>
              <a:path w="1402087" h="305910">
                <a:moveTo>
                  <a:pt x="1402087" y="0"/>
                </a:moveTo>
                <a:lnTo>
                  <a:pt x="0" y="0"/>
                </a:lnTo>
                <a:lnTo>
                  <a:pt x="0" y="305910"/>
                </a:lnTo>
                <a:lnTo>
                  <a:pt x="1402087" y="305910"/>
                </a:lnTo>
                <a:lnTo>
                  <a:pt x="14020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5210369" y="356718"/>
            <a:ext cx="1951603" cy="1939481"/>
          </a:xfrm>
          <a:custGeom>
            <a:avLst/>
            <a:gdLst/>
            <a:ahLst/>
            <a:cxnLst/>
            <a:rect l="l" t="t" r="r" b="b"/>
            <a:pathLst>
              <a:path w="2927404" h="2909222">
                <a:moveTo>
                  <a:pt x="0" y="0"/>
                </a:moveTo>
                <a:lnTo>
                  <a:pt x="2927404" y="0"/>
                </a:lnTo>
                <a:lnTo>
                  <a:pt x="2927404" y="2909222"/>
                </a:lnTo>
                <a:lnTo>
                  <a:pt x="0" y="2909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086396EB-7505-F771-A317-14F2D6434E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4921335"/>
              </p:ext>
            </p:extLst>
          </p:nvPr>
        </p:nvGraphicFramePr>
        <p:xfrm>
          <a:off x="1885682" y="2507336"/>
          <a:ext cx="8761125" cy="1354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6099511" y="6244999"/>
            <a:ext cx="94578" cy="22166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  <a:spcBef>
                <a:spcPct val="0"/>
              </a:spcBef>
            </a:pPr>
            <a:r>
              <a:rPr lang="en-US" sz="1333">
                <a:solidFill>
                  <a:srgbClr val="252525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26426" y="5022563"/>
            <a:ext cx="4940908" cy="1009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77"/>
              </a:lnSpc>
            </a:pPr>
            <a:r>
              <a:rPr lang="en-US" sz="1413" dirty="0">
                <a:solidFill>
                  <a:srgbClr val="25252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Presented by</a:t>
            </a:r>
          </a:p>
          <a:p>
            <a:pPr algn="just">
              <a:lnSpc>
                <a:spcPts val="1977"/>
              </a:lnSpc>
            </a:pPr>
            <a:r>
              <a:rPr lang="en-US" sz="1413" dirty="0">
                <a:solidFill>
                  <a:srgbClr val="25252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 Anjaneyulu Reddy                      AP22110010262</a:t>
            </a:r>
          </a:p>
          <a:p>
            <a:pPr algn="just">
              <a:lnSpc>
                <a:spcPts val="1977"/>
              </a:lnSpc>
            </a:pPr>
            <a:r>
              <a:rPr lang="en-US" sz="1413" dirty="0">
                <a:solidFill>
                  <a:srgbClr val="25252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B Achyuth                                      AP22110010255</a:t>
            </a:r>
          </a:p>
          <a:p>
            <a:pPr algn="just">
              <a:lnSpc>
                <a:spcPts val="1977"/>
              </a:lnSpc>
            </a:pPr>
            <a:r>
              <a:rPr lang="en-US" sz="1413" dirty="0">
                <a:solidFill>
                  <a:srgbClr val="25252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C Chaitanya Krishna                        AP22110010134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27260" y="4001858"/>
            <a:ext cx="4647946" cy="669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1421" b="1" spc="142" dirty="0">
                <a:solidFill>
                  <a:srgbClr val="252525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Under </a:t>
            </a:r>
            <a:r>
              <a:rPr lang="en-US" sz="1421" b="1" spc="142" dirty="0" err="1">
                <a:solidFill>
                  <a:srgbClr val="252525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Guidence</a:t>
            </a:r>
            <a:r>
              <a:rPr lang="en-US" sz="1421" b="1" spc="142" dirty="0">
                <a:solidFill>
                  <a:srgbClr val="252525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 of</a:t>
            </a:r>
          </a:p>
          <a:p>
            <a:pPr algn="ctr">
              <a:lnSpc>
                <a:spcPts val="2843"/>
              </a:lnSpc>
              <a:spcBef>
                <a:spcPct val="0"/>
              </a:spcBef>
            </a:pPr>
            <a:r>
              <a:rPr lang="en-US" sz="1421" b="1" spc="142" dirty="0">
                <a:solidFill>
                  <a:srgbClr val="252525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Dr Arunkumar </a:t>
            </a:r>
            <a:r>
              <a:rPr lang="en-US" sz="1421" b="1" spc="142" dirty="0" err="1">
                <a:solidFill>
                  <a:srgbClr val="252525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Sivapuram</a:t>
            </a:r>
            <a:endParaRPr lang="en-US" sz="1421" b="1" spc="142" dirty="0">
              <a:solidFill>
                <a:srgbClr val="252525"/>
              </a:solidFill>
              <a:latin typeface="Atkinson Hyperlegible Bold"/>
              <a:ea typeface="Atkinson Hyperlegible Bold"/>
              <a:cs typeface="Atkinson Hyperlegible Bold"/>
              <a:sym typeface="Atkinson Hyperlegible Bold"/>
            </a:endParaRPr>
          </a:p>
        </p:txBody>
      </p:sp>
      <p:sp>
        <p:nvSpPr>
          <p:cNvPr id="14" name="Freeform 14"/>
          <p:cNvSpPr/>
          <p:nvPr/>
        </p:nvSpPr>
        <p:spPr>
          <a:xfrm flipH="1">
            <a:off x="8564741" y="4234851"/>
            <a:ext cx="934725" cy="203940"/>
          </a:xfrm>
          <a:custGeom>
            <a:avLst/>
            <a:gdLst/>
            <a:ahLst/>
            <a:cxnLst/>
            <a:rect l="l" t="t" r="r" b="b"/>
            <a:pathLst>
              <a:path w="1402087" h="305910">
                <a:moveTo>
                  <a:pt x="1402087" y="0"/>
                </a:moveTo>
                <a:lnTo>
                  <a:pt x="0" y="0"/>
                </a:lnTo>
                <a:lnTo>
                  <a:pt x="0" y="305910"/>
                </a:lnTo>
                <a:lnTo>
                  <a:pt x="1402087" y="305910"/>
                </a:lnTo>
                <a:lnTo>
                  <a:pt x="14020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3DD32-46EF-7C37-AB56-3DCC59D822B9}"/>
              </a:ext>
            </a:extLst>
          </p:cNvPr>
          <p:cNvSpPr txBox="1"/>
          <p:nvPr/>
        </p:nvSpPr>
        <p:spPr>
          <a:xfrm>
            <a:off x="2491619" y="2936723"/>
            <a:ext cx="7692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ANALYZING HEALTH INSURANCE COSTS REGRESSION MODEL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D576-3D21-B3B7-5EAE-FB2202079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53A2-1F3A-BDA1-C08C-6DE077F255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64964-7318-A4BA-E684-426216785C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B05361-C568-9C73-5DBA-0200C1437815}"/>
              </a:ext>
            </a:extLst>
          </p:cNvPr>
          <p:cNvSpPr/>
          <p:nvPr/>
        </p:nvSpPr>
        <p:spPr>
          <a:xfrm>
            <a:off x="513080" y="1030288"/>
            <a:ext cx="11165840" cy="526288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E897A-A0A1-D3BE-955B-C7999C3FBE32}"/>
              </a:ext>
            </a:extLst>
          </p:cNvPr>
          <p:cNvSpPr txBox="1"/>
          <p:nvPr/>
        </p:nvSpPr>
        <p:spPr>
          <a:xfrm>
            <a:off x="924232" y="1030288"/>
            <a:ext cx="749840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u="sng" dirty="0"/>
              <a:t>Problem Statement &amp; Challenges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DDA9B8-CC0E-C8E3-20B2-0E52B6B7D48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24231" y="1377879"/>
            <a:ext cx="1014688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Problem Statement:</a:t>
            </a:r>
          </a:p>
          <a:p>
            <a:br>
              <a:rPr lang="en-US" dirty="0"/>
            </a:br>
            <a:r>
              <a:rPr lang="en-US" dirty="0"/>
              <a:t>Health insurance charges vary significantly based on factors such as </a:t>
            </a:r>
            <a:r>
              <a:rPr lang="en-US" b="1" dirty="0"/>
              <a:t>age, BMI, number of children, smoking habits, gender, and region</a:t>
            </a:r>
            <a:r>
              <a:rPr lang="en-US" dirty="0"/>
              <a:t>. Manual estimation of medical insurance cost is inaccurate, time-consuming, and leads to financial uncertainty for both individuals and insurance companies. Traditional pricing methods fail to capture hidden relationships between multiple health and lifestyle attributes, resulting in either over-charging or under-charging of premiums.</a:t>
            </a:r>
          </a:p>
          <a:p>
            <a:endParaRPr lang="en-US" dirty="0"/>
          </a:p>
          <a:p>
            <a:r>
              <a:rPr lang="en-US" b="1" dirty="0"/>
              <a:t>Challenges:</a:t>
            </a:r>
          </a:p>
          <a:p>
            <a:endParaRPr lang="en-US" b="1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15E4929-A430-EACE-134B-82CB68C3B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160" y="3847766"/>
            <a:ext cx="1116584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sex, smoker, region, and age group.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Presence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 outliers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insurance charges (very high medical expenses).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Skewed data distribution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requiring log transformation.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regression algorithm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among multiple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maintaining high prediction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2778672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B9A82-D528-4B50-EE12-FF2160908B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8B184-6B96-2B7C-433D-800C724448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827DAE-D9CF-E7FA-5F46-6AFC188DA6A7}"/>
              </a:ext>
            </a:extLst>
          </p:cNvPr>
          <p:cNvSpPr/>
          <p:nvPr/>
        </p:nvSpPr>
        <p:spPr>
          <a:xfrm>
            <a:off x="497840" y="1016000"/>
            <a:ext cx="11165840" cy="526288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BA550-89F6-6CFF-D1F2-6B23CA6F21D3}"/>
              </a:ext>
            </a:extLst>
          </p:cNvPr>
          <p:cNvSpPr txBox="1"/>
          <p:nvPr/>
        </p:nvSpPr>
        <p:spPr>
          <a:xfrm>
            <a:off x="1071720" y="976192"/>
            <a:ext cx="5201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Objectives of the Project</a:t>
            </a:r>
            <a:endParaRPr lang="en-IN" sz="2500" b="1" u="sng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06840F2-E06B-A9D6-44C6-F0FCCECC589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04901" y="2099412"/>
            <a:ext cx="832361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-&gt;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insurance dataset with 1338 records and 7 attributes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-&gt;To study how factors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age, BMI, children, and smoking habits affect insurance charges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-&gt;To build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regression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accurate prediction of insurance charges.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-&gt;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engineering, polynomial regression, and data scaling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-&gt;To perform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tuning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GridSearchCV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-&gt;To compare multiple models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 and R² 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-&gt;To identify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performing regression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real-world insurance cost prediction.</a:t>
            </a:r>
          </a:p>
        </p:txBody>
      </p:sp>
    </p:spTree>
    <p:extLst>
      <p:ext uri="{BB962C8B-B14F-4D97-AF65-F5344CB8AC3E}">
        <p14:creationId xmlns:p14="http://schemas.microsoft.com/office/powerpoint/2010/main" val="2218860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AF03D-78A1-C9E0-67C2-D653AC62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3C4B-C649-3E82-8468-7E22AFE3B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8AF02-62E5-2150-7311-DB41E21A88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463D7-241E-62A8-7C93-132498C7BFC0}"/>
              </a:ext>
            </a:extLst>
          </p:cNvPr>
          <p:cNvSpPr/>
          <p:nvPr/>
        </p:nvSpPr>
        <p:spPr>
          <a:xfrm>
            <a:off x="387227" y="1030749"/>
            <a:ext cx="11165840" cy="526288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800" b="1" u="sng" dirty="0"/>
          </a:p>
          <a:p>
            <a:endParaRPr lang="en-IN" sz="2800" b="1" u="sng" dirty="0"/>
          </a:p>
          <a:p>
            <a:endParaRPr lang="en-IN" sz="2800" b="1" u="sng" dirty="0"/>
          </a:p>
          <a:p>
            <a:r>
              <a:rPr lang="en-IN" sz="2800" b="1" u="sng" dirty="0"/>
              <a:t>Implementation Results &amp; Comparative Analysis  </a:t>
            </a:r>
          </a:p>
          <a:p>
            <a:endParaRPr lang="en-IN" sz="2800" b="1" u="sng" dirty="0"/>
          </a:p>
          <a:p>
            <a:r>
              <a:rPr lang="en-US" b="1" dirty="0"/>
              <a:t>Implementation:</a:t>
            </a:r>
          </a:p>
          <a:p>
            <a:r>
              <a:rPr lang="en-US" dirty="0"/>
              <a:t>The system is implemented using:</a:t>
            </a:r>
          </a:p>
          <a:p>
            <a:pPr lvl="1"/>
            <a:r>
              <a:rPr lang="en-US" dirty="0"/>
              <a:t>Python, Pandas, NumPy</a:t>
            </a:r>
          </a:p>
          <a:p>
            <a:pPr lvl="1"/>
            <a:r>
              <a:rPr lang="en-US" dirty="0"/>
              <a:t>Scikit-Learn for Machine Learning</a:t>
            </a:r>
          </a:p>
          <a:p>
            <a:pPr lvl="1"/>
            <a:r>
              <a:rPr lang="en-US" dirty="0"/>
              <a:t>Matplotlib &amp; Seaborn for Visualization</a:t>
            </a:r>
          </a:p>
          <a:p>
            <a:pPr lvl="1"/>
            <a:r>
              <a:rPr lang="en-US" dirty="0"/>
              <a:t>Google Colab for execution</a:t>
            </a:r>
          </a:p>
          <a:p>
            <a:endParaRPr lang="en-IN" sz="2800" b="1" u="sng" dirty="0"/>
          </a:p>
          <a:p>
            <a:r>
              <a:rPr lang="en-US" b="1" dirty="0"/>
              <a:t>  </a:t>
            </a:r>
            <a:r>
              <a:rPr lang="en-IN" b="1" dirty="0"/>
              <a:t>Final Results (Best Model – </a:t>
            </a:r>
            <a:r>
              <a:rPr lang="en-IN" b="1" dirty="0" err="1"/>
              <a:t>ElasticNet</a:t>
            </a:r>
            <a:r>
              <a:rPr lang="en-IN" b="1" dirty="0"/>
              <a:t>):</a:t>
            </a:r>
          </a:p>
          <a:p>
            <a:r>
              <a:rPr lang="en-IN" dirty="0"/>
              <a:t>Training R² Score: 84.40%</a:t>
            </a:r>
          </a:p>
          <a:p>
            <a:r>
              <a:rPr lang="en-IN" dirty="0"/>
              <a:t>Testing R² Score: 84.37%</a:t>
            </a:r>
          </a:p>
          <a:p>
            <a:r>
              <a:rPr lang="en-IN" dirty="0"/>
              <a:t>The very small difference between training and testing accuracy confirms:</a:t>
            </a:r>
          </a:p>
          <a:p>
            <a:pPr lvl="1"/>
            <a:r>
              <a:rPr lang="en-IN" dirty="0"/>
              <a:t> High prediction reliability</a:t>
            </a:r>
          </a:p>
          <a:p>
            <a:pPr lvl="1"/>
            <a:r>
              <a:rPr lang="en-IN" dirty="0"/>
              <a:t> No overfitting</a:t>
            </a:r>
          </a:p>
          <a:p>
            <a:pPr lvl="1"/>
            <a:r>
              <a:rPr lang="en-IN" dirty="0"/>
              <a:t> Excellent generalization</a:t>
            </a:r>
          </a:p>
          <a:p>
            <a:endParaRPr lang="en-US" dirty="0"/>
          </a:p>
          <a:p>
            <a:endParaRPr lang="en-IN" sz="2800" b="1" u="sng" dirty="0"/>
          </a:p>
          <a:p>
            <a:endParaRPr lang="en-IN" sz="2800" b="1" u="sng" dirty="0"/>
          </a:p>
          <a:p>
            <a:endParaRPr lang="en-IN" sz="2800" b="1" u="sng" dirty="0"/>
          </a:p>
          <a:p>
            <a:endParaRPr lang="en-IN" sz="2800" b="1" u="sng" dirty="0"/>
          </a:p>
          <a:p>
            <a:endParaRPr lang="en-IN" sz="2800" b="1" u="sng" dirty="0"/>
          </a:p>
          <a:p>
            <a:r>
              <a:rPr lang="en-IN" sz="2800" b="1" u="sn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0401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3A898F-A92F-4389-BB34-EA3440D90380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333</Words>
  <Application>Microsoft Office PowerPoint</Application>
  <PresentationFormat>Widescreen</PresentationFormat>
  <Paragraphs>137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Atkinson Hyperlegible</vt:lpstr>
      <vt:lpstr>Atkinson Hyperlegible Bold</vt:lpstr>
      <vt:lpstr>Calibri</vt:lpstr>
      <vt:lpstr>Calibri Light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damarla nandu</dc:creator>
  <cp:lastModifiedBy>Anjaneyulu reddy beeravalli  | AP22110010262</cp:lastModifiedBy>
  <cp:revision>4</cp:revision>
  <dcterms:created xsi:type="dcterms:W3CDTF">2025-12-02T02:52:40Z</dcterms:created>
  <dcterms:modified xsi:type="dcterms:W3CDTF">2025-12-02T09:35:59Z</dcterms:modified>
</cp:coreProperties>
</file>